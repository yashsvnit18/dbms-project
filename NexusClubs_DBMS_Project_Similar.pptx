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32742"/>
                </a:solidFill>
                <a:latin typeface="Aptos"/>
              </a:rPr>
              <a:t>DBMS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76092"/>
                </a:solidFill>
                <a:latin typeface="Aptos"/>
              </a:rPr>
              <a:t>NexusClubs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2837"/>
                </a:solidFill>
                <a:latin typeface="Aptos"/>
              </a:rPr>
              <a:t>A role-based 3NF platform connecting students with club</a:t>
            </a:r>
            <a:br/>
            <a:r>
              <a:t>executives and administrators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2011680" cy="365760"/>
          </a:xfrm>
          <a:prstGeom prst="roundRect">
            <a:avLst/>
          </a:prstGeom>
          <a:solidFill>
            <a:srgbClr val="E8F0F4"/>
          </a:solidFill>
          <a:ln w="12700"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4060"/>
                </a:solidFill>
                <a:latin typeface="Aptos"/>
              </a:rPr>
              <a:t>HTML5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331720"/>
            <a:ext cx="2011680" cy="365760"/>
          </a:xfrm>
          <a:prstGeom prst="roundRect">
            <a:avLst/>
          </a:prstGeom>
          <a:solidFill>
            <a:srgbClr val="E8F0F4"/>
          </a:solidFill>
          <a:ln w="12700"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4060"/>
                </a:solidFill>
                <a:latin typeface="Aptos"/>
              </a:rPr>
              <a:t>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331720"/>
            <a:ext cx="2011680" cy="365760"/>
          </a:xfrm>
          <a:prstGeom prst="roundRect">
            <a:avLst/>
          </a:prstGeom>
          <a:solidFill>
            <a:srgbClr val="E8F0F4"/>
          </a:solidFill>
          <a:ln w="12700"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4060"/>
                </a:solidFill>
                <a:latin typeface="Aptos"/>
              </a:rPr>
              <a:t>Oracle Database in 3NF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331720"/>
            <a:ext cx="2011680" cy="365760"/>
          </a:xfrm>
          <a:prstGeom prst="roundRect">
            <a:avLst/>
          </a:prstGeom>
          <a:solidFill>
            <a:srgbClr val="E8F0F4"/>
          </a:solidFill>
          <a:ln w="12700"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4060"/>
                </a:solidFill>
                <a:latin typeface="Aptos"/>
              </a:rPr>
              <a:t>Node.js Express 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4846320" cy="2468880"/>
          </a:xfrm>
          <a:prstGeom prst="rect">
            <a:avLst/>
          </a:prstGeom>
          <a:solidFill>
            <a:srgbClr val="E9F1F8"/>
          </a:solidFill>
          <a:ln>
            <a:solidFill>
              <a:srgbClr val="C2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b="1" sz="1500">
                <a:solidFill>
                  <a:srgbClr val="202837"/>
                </a:solidFill>
                <a:latin typeface="Aptos"/>
              </a:rPr>
              <a:t>PROJECT TEAM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837"/>
                </a:solidFill>
                <a:latin typeface="Aptos"/>
              </a:rPr>
              <a:t>Dhruv Jain</a:t>
            </a:r>
            <a:br/>
            <a:r>
              <a:t>Admission No.: U25AI112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837"/>
                </a:solidFill>
                <a:latin typeface="Aptos"/>
              </a:rPr>
              <a:t>Rushik Reddy</a:t>
            </a:r>
            <a:br/>
            <a:r>
              <a:t>Admission No.: U25AI125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02837"/>
                </a:solidFill>
                <a:latin typeface="Aptos"/>
              </a:rPr>
              <a:t>Arvind Varma</a:t>
            </a:r>
            <a:br/>
            <a:r>
              <a:t>Admission No.: U25AI094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743200"/>
            <a:ext cx="3108960" cy="2651760"/>
          </a:xfrm>
          <a:prstGeom prst="rect">
            <a:avLst/>
          </a:prstGeom>
          <a:solidFill>
            <a:srgbClr val="13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21240" y="3794760"/>
            <a:ext cx="1097280" cy="1097280"/>
          </a:xfrm>
          <a:prstGeom prst="ellipse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434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NexusClubs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800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? 3NF DBMS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One consistent platform for students, club leads, and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389120" cy="3840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742"/>
                </a:solidFill>
                <a:latin typeface="Aptos"/>
              </a:rPr>
              <a:t>Students need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Find relevant campus events and workshops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Apply/RSVP and receive a verified digital pass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Track attendance and view club executives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645920"/>
            <a:ext cx="5669280" cy="3840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742"/>
                </a:solidFill>
                <a:latin typeface="Aptos"/>
              </a:rPr>
              <a:t>Club Leads need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9456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Schedule events without auditorium clashes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Appoint executive officers and assign custom roles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>
                <a:solidFill>
                  <a:srgbClr val="202837"/>
                </a:solidFill>
                <a:latin typeface="Aptos"/>
              </a:rPr>
              <a:t>Delegate milestone tasks and log roll-call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474720"/>
            <a:ext cx="4389120" cy="1188720"/>
          </a:xfrm>
          <a:prstGeom prst="roundRect">
            <a:avLst/>
          </a:prstGeom>
          <a:solidFill>
            <a:srgbClr val="11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7033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One shared, consistent 3NF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206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ptos"/>
              </a:rPr>
              <a:t>All portals read and write the exact same normalized records simultaneously, eliminating data redundancy and state mismatches.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solidFill>
            <a:srgbClr val="E6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742"/>
                </a:solidFill>
                <a:latin typeface="Aptos"/>
              </a:rPr>
              <a:t>Role-based portals on one unified 3NF relational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577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742"/>
                </a:solidFill>
                <a:latin typeface="Aptos"/>
              </a:rPr>
              <a:t>Student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55778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742"/>
                </a:solidFill>
                <a:latin typeface="Aptos"/>
              </a:rPr>
              <a:t>Club Lead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577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32742"/>
                </a:solidFill>
                <a:latin typeface="Aptos"/>
              </a:rPr>
              <a:t>Shared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806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Browse and search events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Claim RSVP passes with capacity check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Track personal passbook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5806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Schedule events with clash check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Appoint officers &amp; assign custom roles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Delegate tasks and run attendance roll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8064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Web application (HTML5/Tailwind)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REST API &amp; in-browser 3NF engine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>
                <a:solidFill>
                  <a:srgbClr val="202837"/>
                </a:solidFill>
                <a:latin typeface="Aptos"/>
              </a:rPr>
              <a:t>Oracle Database in 3NF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Objectives and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Objective: a working role-based club management platform with a 3NF database-first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32742"/>
                </a:solidFill>
                <a:latin typeface="Aptos"/>
              </a:rPr>
              <a:t>Secure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Student, club lead, and dean personas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Quick persona switcher for live evaluation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Navigation rendered per 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Session state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2004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32742"/>
                </a:solidFill>
                <a:latin typeface="Aptos"/>
              </a:rPr>
              <a:t>Student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Search: keyword, venue, host club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One-click RSVP with unique pass ID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Auditorium capacity gauges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Active passbook wallet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737360"/>
            <a:ext cx="32004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32742"/>
                </a:solidFill>
                <a:latin typeface="Aptos"/>
              </a:rPr>
              <a:t>Club Lead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Dashboard metrics (treasury, members, events)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Appoint officers: Lead gives names and assigns roles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Schedule events: venue clash check via procedure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>
                <a:solidFill>
                  <a:srgbClr val="202837"/>
                </a:solidFill>
                <a:latin typeface="Aptos"/>
              </a:rPr>
              <a:t>Delegate tasks and log meeting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Technology stack &amp;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Four layers, each with one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742"/>
                </a:solidFill>
                <a:latin typeface="Aptos"/>
              </a:rPr>
              <a:t>Presentation ? Web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02837"/>
                </a:solidFill>
                <a:latin typeface="Aptos"/>
              </a:rPr>
              <a:t>HTML5, Tailwind CSS, role-based navigation, responsive modals and glassmorphic panels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28600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3852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742"/>
                </a:solidFill>
                <a:latin typeface="Aptos"/>
              </a:rPr>
              <a:t>Application logic ?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317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02837"/>
                </a:solidFill>
                <a:latin typeface="Aptos"/>
              </a:rPr>
              <a:t>Modern ES6+, state engine, dynamic executive appointment logic, in-browser 3NF simulator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828800"/>
            <a:ext cx="228600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742"/>
                </a:solidFill>
                <a:latin typeface="Aptos"/>
              </a:rPr>
              <a:t>Data access ? 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3317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02837"/>
                </a:solidFill>
                <a:latin typeface="Aptos"/>
              </a:rPr>
              <a:t>Express REST API with parameterized routes (/api/events, /api/clubs, /api/rsvp, /api/ledger)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228600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3852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742"/>
                </a:solidFill>
                <a:latin typeface="Aptos"/>
              </a:rPr>
              <a:t>Database ? Oracle 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317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202837"/>
                </a:solidFill>
                <a:latin typeface="Aptos"/>
              </a:rPr>
              <a:t>8 normalized 3NF tables, foreign key constraints, 5 analytical views, compound triggers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94760"/>
            <a:ext cx="10698480" cy="2057400"/>
          </a:xfrm>
          <a:prstGeom prst="rect">
            <a:avLst/>
          </a:prstGeom>
          <a:solidFill>
            <a:srgbClr val="F5F9FC"/>
          </a:solidFill>
          <a:ln>
            <a:solidFill>
              <a:srgbClr val="C9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32742"/>
                </a:solidFill>
                <a:latin typeface="Aptos"/>
              </a:rPr>
              <a:t>Architecture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57200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4515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202837"/>
                </a:solidFill>
                <a:latin typeface="Aptos"/>
              </a:rPr>
              <a:t>ENTRY</a:t>
            </a:r>
            <a:br/>
            <a:r>
              <a:t>index.html</a:t>
            </a:r>
            <a:br/>
            <a:r>
              <a:t>Entry point and navigation router. User role selects the portal.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57200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464515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202837"/>
                </a:solidFill>
                <a:latin typeface="Aptos"/>
              </a:rPr>
              <a:t>PAGES (UI)</a:t>
            </a:r>
            <a:br/>
            <a:r>
              <a:t>Student: dashboard ? events ? my_passes</a:t>
            </a:r>
            <a:br/>
            <a:r>
              <a:t>Lead: dashboard ? appoint ? tasks ? attend</a:t>
            </a:r>
            <a:br/>
            <a:r>
              <a:t>Dean: treasury ? audit ? collabs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457200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464515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202837"/>
                </a:solidFill>
                <a:latin typeface="Aptos"/>
              </a:rPr>
              <a:t>SERVICES</a:t>
            </a:r>
            <a:br/>
            <a:r>
              <a:t>auth_service ? event_service</a:t>
            </a:r>
            <a:br/>
            <a:r>
              <a:t>executive_service ? attendance_service ? ledger_service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57200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464515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202837"/>
                </a:solidFill>
                <a:latin typeface="Aptos"/>
              </a:rPr>
              <a:t>DATA ACCESS</a:t>
            </a:r>
            <a:br/>
            <a:r>
              <a:t>REST API (5000)</a:t>
            </a:r>
            <a:br/>
            <a:r>
              <a:t>Parameterized SQL routes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457200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8592" y="4645152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 i="0">
                <a:solidFill>
                  <a:srgbClr val="202837"/>
                </a:solidFill>
                <a:latin typeface="Aptos"/>
              </a:rPr>
              <a:t>DATABASE</a:t>
            </a:r>
            <a:br/>
            <a:r>
              <a:t>Oracle Database</a:t>
            </a:r>
            <a:br/>
            <a:r>
              <a:t>8 tables in 3NF ? 5 analytical views</a:t>
            </a:r>
            <a:br/>
            <a:r>
              <a:t>constraints ? audit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66172"/>
                </a:solidFill>
                <a:latin typeface="Aptos"/>
              </a:rPr>
              <a:t>Security: Parameterized SQL queries, foreign key cascading, domain CHECK constraints.  Environment: Modern Web Browsers, Node.js Express API (Port 5000), Oracle Database.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From an appointed officer and scheduled event to a verified attendance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1 ? BOTH</a:t>
            </a:r>
            <a:br/>
            <a:r>
              <a:t>Registers or selects persona; role sets the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73736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182880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2 ? CLUB LEAD</a:t>
            </a:r>
            <a:br/>
            <a:r>
              <a:t>Appoints executive officer and assigns custom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82880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3 ? CLUB LEAD</a:t>
            </a:r>
            <a:br/>
            <a:r>
              <a:t>Schedules event with venue; trigger checks clash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2880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4 ? STUDENT</a:t>
            </a:r>
            <a:br/>
            <a:r>
              <a:t>Browses and filters upcoming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182880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5 ? STUDENT</a:t>
            </a:r>
            <a:br/>
            <a:r>
              <a:t>RSVPs and receives unique digital pass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4904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6 ? CLUB LEAD</a:t>
            </a:r>
            <a:br/>
            <a:r>
              <a:t>Delegates milestone tasks to appointed officers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65760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374904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7 ? CLUB LEAD</a:t>
            </a:r>
            <a:br/>
            <a:r>
              <a:t>Opens meeting register and records roll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1737360" cy="1554480"/>
          </a:xfrm>
          <a:prstGeom prst="roundRect">
            <a:avLst/>
          </a:prstGeom>
          <a:solidFill>
            <a:srgbClr val="E8F0F4"/>
          </a:solidFill>
          <a:ln>
            <a:solidFill>
              <a:srgbClr val="44B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749040"/>
            <a:ext cx="1463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02837"/>
                </a:solidFill>
                <a:latin typeface="Aptos"/>
              </a:rPr>
              <a:t>8 ? DATABASE</a:t>
            </a:r>
            <a:br/>
            <a:r>
              <a:t>Procedure and trigger log transaction and audit trail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60320" y="2852928"/>
            <a:ext cx="365760" cy="365760"/>
          </a:xfrm>
          <a:prstGeom prst="right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389120" y="2852928"/>
            <a:ext cx="365760" cy="365760"/>
          </a:xfrm>
          <a:prstGeom prst="right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217920" y="2852928"/>
            <a:ext cx="365760" cy="365760"/>
          </a:xfrm>
          <a:prstGeom prst="right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046720" y="2852928"/>
            <a:ext cx="365760" cy="365760"/>
          </a:xfrm>
          <a:prstGeom prst="right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875520" y="2852928"/>
            <a:ext cx="365760" cy="365760"/>
          </a:xfrm>
          <a:prstGeom prst="right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394960" y="3474720"/>
            <a:ext cx="365760" cy="365760"/>
          </a:xfrm>
          <a:prstGeom prst="downArrow">
            <a:avLst/>
          </a:prstGeom>
          <a:solidFill>
            <a:srgbClr val="44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Key technical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Integrity and business rules are enforced in the 3NF database layer, not only the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3NF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0428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8 normalized tables isolate transitive dependencies and eliminate insertion, update, and deletion anomalies.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82880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385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Compound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428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TRG_PREVENT_VENUE_CLASH resolves ORA-04091 mutating table errors by deferring checks to the statement level.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82880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39" y="19385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Stored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30428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PROC_SCHEDULE_EVENT and PROC_REGISTER_STUDENT_RSVP guarantee atomic transaction execution.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502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Budget solvency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1596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TRG_BUDGET_GUARD uses FOR UPDATE row locks to prevent overdrawing treasury balance during disbursements.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84048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9502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Audit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31596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Collaboration settlements and grant disbursements are automatically logged in BUDGET_LEDGER.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840480"/>
            <a:ext cx="3108960" cy="13716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39" y="39502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32742"/>
                </a:solidFill>
                <a:latin typeface="Aptos"/>
              </a:rPr>
              <a:t>Integrity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4315968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 i="0">
                <a:solidFill>
                  <a:srgbClr val="202837"/>
                </a:solidFill>
                <a:latin typeface="Aptos"/>
              </a:rPr>
              <a:t>8 tables, foreign keys with CASCADE, CHECK constraints on dates, budgets, and auditorium capacities.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32742"/>
                </a:solidFill>
                <a:latin typeface="Aptos"/>
              </a:rPr>
              <a:t>Results,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881360" cy="45720"/>
          </a:xfrm>
          <a:prstGeom prst="rect">
            <a:avLst/>
          </a:prstGeom>
          <a:solidFill>
            <a:srgbClr val="167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66172"/>
                </a:solidFill>
                <a:latin typeface="Aptos"/>
              </a:rPr>
              <a:t>What is built and verified so far, and proposed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011680" cy="1371600"/>
          </a:xfrm>
          <a:prstGeom prst="rect">
            <a:avLst/>
          </a:prstGeom>
          <a:solidFill>
            <a:srgbClr val="11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Role-based portals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011680" cy="1371600"/>
          </a:xfrm>
          <a:prstGeom prst="rect">
            <a:avLst/>
          </a:prstGeom>
          <a:solidFill>
            <a:srgbClr val="11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Tables in 3NF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828800"/>
            <a:ext cx="2011680" cy="1371600"/>
          </a:xfrm>
          <a:prstGeom prst="rect">
            <a:avLst/>
          </a:prstGeom>
          <a:solidFill>
            <a:srgbClr val="11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965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560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ptos"/>
              </a:rPr>
              <a:t>Client standalone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5303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742"/>
                </a:solidFill>
                <a:latin typeface="Aptos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202837"/>
                </a:solidFill>
                <a:latin typeface="Aptos"/>
              </a:rPr>
              <a:t>Notifications use real-time toast alerts rather than external SMTP email relay.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202837"/>
                </a:solidFill>
                <a:latin typeface="Aptos"/>
              </a:rPr>
              <a:t>Attendance uses digital lead verification rather than hardware RFID badge turnstiles.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202837"/>
                </a:solidFill>
                <a:latin typeface="Aptos"/>
              </a:rPr>
              <a:t>Concurrent bookings use transaction locks but are not stress-tested at high volume.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12064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D2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32742"/>
                </a:solidFill>
                <a:latin typeface="Aptos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202837"/>
                </a:solidFill>
                <a:latin typeface="Aptos"/>
              </a:rPr>
              <a:t>Mobile QR scanner: verify passes at auditorium doors with automated entry validation.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202837"/>
                </a:solidFill>
                <a:latin typeface="Aptos"/>
              </a:rPr>
              <a:t>Campus ERP integration: direct link with institute MIS database for automated student enrollment and clearance checks.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202837"/>
                </a:solidFill>
                <a:latin typeface="Aptos"/>
              </a:rPr>
              <a:t>Real-time notifications: WebSocket alerts when collaboration proposals or operational tasks are updated.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>
                <a:solidFill>
                  <a:srgbClr val="202837"/>
                </a:solidFill>
                <a:latin typeface="Aptos"/>
              </a:rPr>
              <a:t>Attendance analytics: reporting on member participation rates and quorum consistency trends.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649224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D5A6E"/>
                </a:solidFill>
              </a:rPr>
              <a:t>NexusClubs ? 3NF DBMS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1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0972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1945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Yash Gupta ? U25AI110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697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Dhruv Jain ? U25AI112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2004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Rushik Reddy ? U25AI125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7033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ptos"/>
              </a:rPr>
              <a:t>Arvind Varma ? U25AI094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5577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FC9FF"/>
                </a:solidFill>
                <a:latin typeface="Aptos"/>
              </a:rPr>
              <a:t>NexusClubs ? 3NF DBMS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